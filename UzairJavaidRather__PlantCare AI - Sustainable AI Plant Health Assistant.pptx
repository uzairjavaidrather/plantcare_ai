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9"/>
  </p:notesMasterIdLst>
  <p:handoutMasterIdLst>
    <p:handoutMasterId r:id="rId30"/>
  </p:handoutMasterIdLst>
  <p:sldIdLst>
    <p:sldId id="312" r:id="rId5"/>
    <p:sldId id="304" r:id="rId6"/>
    <p:sldId id="322" r:id="rId7"/>
    <p:sldId id="307" r:id="rId8"/>
    <p:sldId id="282" r:id="rId9"/>
    <p:sldId id="323" r:id="rId10"/>
    <p:sldId id="324" r:id="rId11"/>
    <p:sldId id="325" r:id="rId12"/>
    <p:sldId id="331" r:id="rId13"/>
    <p:sldId id="335" r:id="rId14"/>
    <p:sldId id="314" r:id="rId15"/>
    <p:sldId id="321" r:id="rId16"/>
    <p:sldId id="326" r:id="rId17"/>
    <p:sldId id="327" r:id="rId18"/>
    <p:sldId id="329" r:id="rId19"/>
    <p:sldId id="330" r:id="rId20"/>
    <p:sldId id="332" r:id="rId21"/>
    <p:sldId id="333" r:id="rId22"/>
    <p:sldId id="334" r:id="rId23"/>
    <p:sldId id="336" r:id="rId24"/>
    <p:sldId id="337" r:id="rId25"/>
    <p:sldId id="338" r:id="rId26"/>
    <p:sldId id="318" r:id="rId27"/>
    <p:sldId id="297" r:id="rId2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59" d="100"/>
          <a:sy n="59" d="100"/>
        </p:scale>
        <p:origin x="964"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74F77-9692-E472-624B-E03456B3F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AD6DE-9BCF-8BC5-44AA-C4D3EFE348E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5D9B384-7763-4B88-E1CE-DCB3408DC27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41824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83B5-851B-9097-39E4-42DA22403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B3F38-F463-6F5C-9E6A-1ED18FEBCEB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A23C8C6-3F36-CB7A-2AE1-5E882AD1FB7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24118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1BCCA-DBBB-CF51-0812-0E338C940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3C27F5-AFDE-98BB-3C3B-6000F054A2A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4D263A7-0BF2-4A99-8DAA-8A25B2A9D3B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63947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A0FF-643E-E716-4F37-06C82F247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E3A4B-1A9F-02F6-0773-DB2BC3EE595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08104BF-8DE6-6AA7-9B33-E2BAB67A283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88691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F30D-110B-5037-68CE-CA1DA6E59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BAAD6-06B9-0A34-77A2-1DA43BD13FA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808EDE1-C9AB-394D-1AA8-5E5922F684E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58233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3C693-3917-0C5A-3731-74E83BB28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3C38B-CD59-EAD9-BDF4-3A2A4B938EE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E50771B-0B75-8BB9-2283-7BBA4D357E9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0730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27FA5-24ED-5CD8-4928-EE1BE83C7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A74DD-0AA6-A147-5113-A973AD5EB39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6E9693E-96B9-2D72-4208-8CFFA6B5EAB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39142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14629-4352-522E-4256-AD205B6A9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B77C2-A863-9C5D-0FC7-DCBF36FC895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FDBD968-C5F9-5AE0-CFBB-ED9208A2BEB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49112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B7206-88AF-D435-67CA-2CA3AD70F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343DE-D9B7-5F5C-5E05-3F5E19B485E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06A6E16-A4B4-145A-2A77-B44B1A827E9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36840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45C8B-620D-ABDD-18B2-479EBEEA6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27CFF-A382-E9CD-1F8C-51EA1F97DCC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2D60447-BCE9-07F3-DC40-30E038C1C8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22137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2EA90-400F-6F53-660B-866FEE2A2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FCE13-833B-D450-712F-C010FAF29B8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AE84E7B-69F9-0A30-45DE-22E2A2172CF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67272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BFEC-D43F-3B0F-7E43-8DE0B2FC8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F2D2C-0E3C-56B0-08D8-46D8E63E380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8392EFB-01EA-E444-569B-D750D8CCFDC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42173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9F0E6-59D3-6017-B6D8-1496A89CB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2A80-3420-442B-2375-438C2B4FFC5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4CEF530-FF8C-39FC-79A2-AD2231E7398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0593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F24B-2B78-D979-EB3A-C1729FE2E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D6FD2-3C76-609F-EF2A-CB3820791E5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CA94F40-27CA-3581-8CCD-9B4CE1C5450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36184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5ADC-9BCF-3795-DFAF-601DD966C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96DA8-E9D0-866C-FECB-0EFFD1D9441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D703D54-D20E-2D09-0C63-FDB53585765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05650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FFD8-CD57-54E2-17FC-9392EB097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F6FC2-1974-BC8C-9278-4F1CEDB621B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408B421-B390-5454-4F0E-1C49823C9A9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561613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UzairJavaidRather/PlantCare_AI.git"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err="1"/>
              <a:t>PlantCare</a:t>
            </a:r>
            <a:r>
              <a:rPr lang="en-US" dirty="0"/>
              <a:t> AI     </a:t>
            </a:r>
            <a:r>
              <a:rPr lang="en-US" sz="1800" dirty="0"/>
              <a:t>Sustainable AI Plant Health Assistant</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Details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3063240"/>
            <a:ext cx="6583680" cy="3207344"/>
          </a:xfrm>
        </p:spPr>
        <p:txBody>
          <a:bodyPr>
            <a:normAutofit lnSpcReduction="10000"/>
          </a:bodyPr>
          <a:lstStyle/>
          <a:p>
            <a:r>
              <a:rPr lang="en-US" dirty="0"/>
              <a:t>Name : </a:t>
            </a:r>
            <a:r>
              <a:rPr lang="en-US" b="1" dirty="0"/>
              <a:t>Uzair Javaid Rather</a:t>
            </a:r>
            <a:endParaRPr lang="en-US" dirty="0"/>
          </a:p>
          <a:p>
            <a:r>
              <a:rPr lang="en-US" dirty="0"/>
              <a:t>AICTE STUID : </a:t>
            </a:r>
            <a:r>
              <a:rPr lang="en-US" b="1" dirty="0"/>
              <a:t>STU69f338bd4f21e1777547453</a:t>
            </a:r>
          </a:p>
          <a:p>
            <a:r>
              <a:rPr lang="en-US" dirty="0"/>
              <a:t>College : </a:t>
            </a:r>
            <a:r>
              <a:rPr lang="en-US" b="1" dirty="0"/>
              <a:t>Government College of Engineering and Technology, </a:t>
            </a:r>
            <a:r>
              <a:rPr lang="en-US" b="1" dirty="0" err="1"/>
              <a:t>Safapora</a:t>
            </a:r>
            <a:r>
              <a:rPr lang="en-US" b="1" dirty="0"/>
              <a:t> Ganderbal J&amp;K</a:t>
            </a:r>
          </a:p>
          <a:p>
            <a:r>
              <a:rPr lang="en-US" dirty="0"/>
              <a:t>Project Title : </a:t>
            </a:r>
            <a:r>
              <a:rPr lang="en-US" b="1" dirty="0" err="1"/>
              <a:t>PlantCare</a:t>
            </a:r>
            <a:r>
              <a:rPr lang="en-US" b="1" dirty="0"/>
              <a:t> AI - Sustainable AI Plant Health Assistant</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CD836-6503-B45D-9510-AF05224B3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5C09F-9D03-95A2-3CE8-7277C3B6DD8F}"/>
              </a:ext>
            </a:extLst>
          </p:cNvPr>
          <p:cNvSpPr>
            <a:spLocks noGrp="1"/>
          </p:cNvSpPr>
          <p:nvPr>
            <p:ph type="title"/>
          </p:nvPr>
        </p:nvSpPr>
        <p:spPr>
          <a:xfrm>
            <a:off x="914400" y="-602669"/>
            <a:ext cx="6583680" cy="1531357"/>
          </a:xfrm>
        </p:spPr>
        <p:txBody>
          <a:bodyPr/>
          <a:lstStyle/>
          <a:p>
            <a:r>
              <a:rPr lang="en-US" dirty="0"/>
              <a:t>Problem Statement</a:t>
            </a:r>
          </a:p>
        </p:txBody>
      </p:sp>
      <p:sp>
        <p:nvSpPr>
          <p:cNvPr id="3" name="Content Placeholder 2">
            <a:extLst>
              <a:ext uri="{FF2B5EF4-FFF2-40B4-BE49-F238E27FC236}">
                <a16:creationId xmlns:a16="http://schemas.microsoft.com/office/drawing/2014/main" id="{F01EEDCA-ACBB-CB7B-8545-B6777258E141}"/>
              </a:ext>
            </a:extLst>
          </p:cNvPr>
          <p:cNvSpPr>
            <a:spLocks noGrp="1"/>
          </p:cNvSpPr>
          <p:nvPr>
            <p:ph idx="1"/>
          </p:nvPr>
        </p:nvSpPr>
        <p:spPr>
          <a:xfrm>
            <a:off x="914399" y="928688"/>
            <a:ext cx="6912429" cy="5929312"/>
          </a:xfrm>
        </p:spPr>
        <p:txBody>
          <a:bodyPr>
            <a:noAutofit/>
          </a:bodyPr>
          <a:lstStyle/>
          <a:p>
            <a:r>
              <a:rPr lang="en-US" sz="2000" dirty="0"/>
              <a:t>Home gardeners and small-scale growers frequently struggle to keep plants healthy due to limited access to expert agronomic or plant pathology advice. As a result, plant diseases often go undetected until visible damage has already occurred, and watering decisions are typically based on guesswork rather than actual weather or soil conditions. This leads to two avoidable outcomes: unnecessary water consumption from over-watering, and preventable plant loss from late disease diagnosis. With rising concern around sustainable resource use, especially water, there is a clear need for an accessible, low-cost tool that helps everyday plant owners make informed, data-backed care decisions without requiring specialized botanical knowledge or professional consultation.</a:t>
            </a:r>
          </a:p>
        </p:txBody>
      </p:sp>
      <p:sp>
        <p:nvSpPr>
          <p:cNvPr id="4" name="Slide Number Placeholder 3">
            <a:extLst>
              <a:ext uri="{FF2B5EF4-FFF2-40B4-BE49-F238E27FC236}">
                <a16:creationId xmlns:a16="http://schemas.microsoft.com/office/drawing/2014/main" id="{8CAEB7F7-B919-C5EA-4BD1-405B3962A8D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8202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876800" y="0"/>
            <a:ext cx="6549227" cy="947057"/>
          </a:xfrm>
        </p:spPr>
        <p:txBody>
          <a:bodyPr/>
          <a:lstStyle/>
          <a:p>
            <a:r>
              <a:rPr lang="en-US" dirty="0"/>
              <a:t>SDG Alignment</a:t>
            </a:r>
          </a:p>
        </p:txBody>
      </p:sp>
      <p:pic>
        <p:nvPicPr>
          <p:cNvPr id="6" name="Picture Placeholder 5">
            <a:extLst>
              <a:ext uri="{FF2B5EF4-FFF2-40B4-BE49-F238E27FC236}">
                <a16:creationId xmlns:a16="http://schemas.microsoft.com/office/drawing/2014/main" id="{1B8119AA-D8FB-F1FC-6CA9-92695676864F}"/>
              </a:ext>
            </a:extLst>
          </p:cNvPr>
          <p:cNvPicPr>
            <a:picLocks noGrp="1" noChangeAspect="1"/>
          </p:cNvPicPr>
          <p:nvPr>
            <p:ph type="pic" sz="quarter" idx="11"/>
          </p:nvPr>
        </p:nvPicPr>
        <p:blipFill>
          <a:blip r:embed="rId3"/>
          <a:srcRect l="15839" r="15839"/>
          <a:stretch>
            <a:fillRect/>
          </a:stretch>
        </p:blipFill>
        <p:spPr>
          <a:prstGeom prst="rect">
            <a:avLst/>
          </a:prstGeom>
        </p:spPr>
      </p:pic>
      <p:sp>
        <p:nvSpPr>
          <p:cNvPr id="8" name="TextBox 7">
            <a:extLst>
              <a:ext uri="{FF2B5EF4-FFF2-40B4-BE49-F238E27FC236}">
                <a16:creationId xmlns:a16="http://schemas.microsoft.com/office/drawing/2014/main" id="{5C70985C-CA1C-4E19-F73C-E09C7F836913}"/>
              </a:ext>
            </a:extLst>
          </p:cNvPr>
          <p:cNvSpPr txBox="1"/>
          <p:nvPr/>
        </p:nvSpPr>
        <p:spPr>
          <a:xfrm>
            <a:off x="4996543" y="1219201"/>
            <a:ext cx="4212771" cy="5262979"/>
          </a:xfrm>
          <a:prstGeom prst="rect">
            <a:avLst/>
          </a:prstGeom>
          <a:noFill/>
        </p:spPr>
        <p:txBody>
          <a:bodyPr wrap="square" rtlCol="0">
            <a:spAutoFit/>
          </a:bodyPr>
          <a:lstStyle/>
          <a:p>
            <a:r>
              <a:rPr lang="en-US" sz="2400" dirty="0"/>
              <a:t>Primary: </a:t>
            </a:r>
            <a:r>
              <a:rPr lang="en-US" sz="2400" b="1" dirty="0"/>
              <a:t>SDG 12 — Responsible Consumption and Production</a:t>
            </a:r>
            <a:r>
              <a:rPr lang="en-US" sz="2400" dirty="0"/>
              <a:t>, addressed through reduced water waste from smarter, data-driven watering decisions.</a:t>
            </a:r>
          </a:p>
          <a:p>
            <a:endParaRPr lang="en-US" sz="2400" dirty="0"/>
          </a:p>
          <a:p>
            <a:r>
              <a:rPr lang="en-US" sz="2400" dirty="0"/>
              <a:t>Secondary: </a:t>
            </a:r>
            <a:r>
              <a:rPr lang="en-US" sz="2400" b="1" dirty="0"/>
              <a:t>SDG 15 — Life on Land</a:t>
            </a:r>
            <a:r>
              <a:rPr lang="en-US" sz="2400" dirty="0"/>
              <a:t>, supported through early plant disease detection and healthier plant outcomes at the individual-grower level.</a:t>
            </a:r>
          </a:p>
          <a:p>
            <a:br>
              <a:rPr lang="en-US" sz="2400" dirty="0"/>
            </a:br>
            <a:endParaRPr lang="en-US" sz="2400" dirty="0"/>
          </a:p>
        </p:txBody>
      </p:sp>
    </p:spTree>
    <p:extLst>
      <p:ext uri="{BB962C8B-B14F-4D97-AF65-F5344CB8AC3E}">
        <p14:creationId xmlns:p14="http://schemas.microsoft.com/office/powerpoint/2010/main" val="290649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0"/>
            <a:ext cx="7965461" cy="994164"/>
          </a:xfrm>
        </p:spPr>
        <p:txBody>
          <a:bodyPr/>
          <a:lstStyle/>
          <a:p>
            <a:r>
              <a:rPr lang="en-US" dirty="0"/>
              <a:t>AI Solution Overview</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1186543"/>
            <a:ext cx="7965460" cy="5497286"/>
          </a:xfrm>
        </p:spPr>
        <p:txBody>
          <a:bodyPr>
            <a:noAutofit/>
          </a:bodyPr>
          <a:lstStyle/>
          <a:p>
            <a:pPr marL="0" indent="0">
              <a:buNone/>
            </a:pPr>
            <a:r>
              <a:rPr lang="en-US" sz="2000" b="1" dirty="0" err="1"/>
              <a:t>PlantCare</a:t>
            </a:r>
            <a:r>
              <a:rPr lang="en-US" sz="2000" b="1" dirty="0"/>
              <a:t> AI </a:t>
            </a:r>
            <a:r>
              <a:rPr lang="en-US" sz="2000" dirty="0"/>
              <a:t>lets a user photograph a plant leaf and receive an end-to-end health assessment. A pretrained Hugging Face vision model classifies the leaf as healthy or diseased, while the </a:t>
            </a:r>
            <a:r>
              <a:rPr lang="en-US" sz="2000" b="1" dirty="0" err="1"/>
              <a:t>PlantNet</a:t>
            </a:r>
            <a:r>
              <a:rPr lang="en-US" sz="2000" b="1" dirty="0"/>
              <a:t> API </a:t>
            </a:r>
            <a:r>
              <a:rPr lang="en-US" sz="2000" dirty="0"/>
              <a:t>identifies the plant species — both returning confidence scores rather than blunt yes/no answers. This diagnostic data is combined with live weather (temperature, humidity, rain probability) and passed to a large language model (</a:t>
            </a:r>
            <a:r>
              <a:rPr lang="en-US" sz="2000" b="1" dirty="0" err="1"/>
              <a:t>Groq's</a:t>
            </a:r>
            <a:r>
              <a:rPr lang="en-US" sz="2000" b="1" dirty="0"/>
              <a:t> Llama 3.3</a:t>
            </a:r>
            <a:r>
              <a:rPr lang="en-US" sz="2000" dirty="0"/>
              <a:t>), which generates a plain-language explanation of the plant's condition and answers user follow-up questions conversationally. Separately, a deliberately rule-based (non-AI) engine evaluates weather and plant type to recommend whether watering is needed, prioritizing explainability for this specific decision. Results, watering history, and an aggregated sustainability score (tracking water saved, plants monitored, and diseases caught early) are stored per-user in </a:t>
            </a:r>
            <a:r>
              <a:rPr lang="en-US" sz="2000" b="1" dirty="0" err="1"/>
              <a:t>Supabase</a:t>
            </a:r>
            <a:r>
              <a:rPr lang="en-US" sz="2000" dirty="0"/>
              <a:t> with Row Level Security, and visualized on a dashboard. </a:t>
            </a:r>
            <a:r>
              <a:rPr lang="en-US" sz="2000" b="1" dirty="0"/>
              <a:t>IBM Bob </a:t>
            </a:r>
            <a:r>
              <a:rPr lang="en-US" sz="2000" dirty="0"/>
              <a:t>was used during early-stage ideation to help structure the project's architecture and development approach before implementation began.</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98A7-7FF2-7FBD-7569-151E65171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83466-CF9F-A145-B4E2-92A7F760D2B6}"/>
              </a:ext>
            </a:extLst>
          </p:cNvPr>
          <p:cNvSpPr>
            <a:spLocks noGrp="1"/>
          </p:cNvSpPr>
          <p:nvPr>
            <p:ph type="title"/>
          </p:nvPr>
        </p:nvSpPr>
        <p:spPr>
          <a:xfrm>
            <a:off x="3460564" y="692943"/>
            <a:ext cx="7965461" cy="994164"/>
          </a:xfrm>
        </p:spPr>
        <p:txBody>
          <a:bodyPr/>
          <a:lstStyle/>
          <a:p>
            <a:r>
              <a:rPr lang="en-US" dirty="0"/>
              <a:t>Target Users</a:t>
            </a:r>
          </a:p>
        </p:txBody>
      </p:sp>
      <p:sp>
        <p:nvSpPr>
          <p:cNvPr id="3" name="Content Placeholder 2">
            <a:extLst>
              <a:ext uri="{FF2B5EF4-FFF2-40B4-BE49-F238E27FC236}">
                <a16:creationId xmlns:a16="http://schemas.microsoft.com/office/drawing/2014/main" id="{EAE8A275-E16D-23FC-25D4-783F0AE3609D}"/>
              </a:ext>
            </a:extLst>
          </p:cNvPr>
          <p:cNvSpPr>
            <a:spLocks noGrp="1"/>
          </p:cNvSpPr>
          <p:nvPr>
            <p:ph sz="half" idx="2"/>
          </p:nvPr>
        </p:nvSpPr>
        <p:spPr>
          <a:xfrm>
            <a:off x="3460565" y="2144486"/>
            <a:ext cx="5226235" cy="5497286"/>
          </a:xfrm>
        </p:spPr>
        <p:txBody>
          <a:bodyPr>
            <a:noAutofit/>
          </a:bodyPr>
          <a:lstStyle/>
          <a:p>
            <a:pPr marL="0" indent="0">
              <a:buNone/>
            </a:pPr>
            <a:r>
              <a:rPr lang="en-US" sz="2400" dirty="0"/>
              <a:t>Home gardeners, hobbyist plant owners, and small-scale urban growers who lack easy access to expert plant pathology or agronomic advice. A secondary audience includes students and early-career developers interested in seeing how multiple AI services — computer vision, language generation, and rule-based logic — can be orchestrated together in one practical application.</a:t>
            </a:r>
          </a:p>
        </p:txBody>
      </p:sp>
      <p:sp>
        <p:nvSpPr>
          <p:cNvPr id="23" name="Slide Number Placeholder 22">
            <a:extLst>
              <a:ext uri="{FF2B5EF4-FFF2-40B4-BE49-F238E27FC236}">
                <a16:creationId xmlns:a16="http://schemas.microsoft.com/office/drawing/2014/main" id="{AAD0649B-BD56-6115-FF9C-F9070CC1497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562743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A01A8-FFF0-A552-70B4-BDE3FCDD0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0923E-D7EF-9FC4-917C-F548036C1BA1}"/>
              </a:ext>
            </a:extLst>
          </p:cNvPr>
          <p:cNvSpPr>
            <a:spLocks noGrp="1"/>
          </p:cNvSpPr>
          <p:nvPr>
            <p:ph type="title"/>
          </p:nvPr>
        </p:nvSpPr>
        <p:spPr>
          <a:xfrm>
            <a:off x="3460565" y="260916"/>
            <a:ext cx="7965461" cy="994164"/>
          </a:xfrm>
        </p:spPr>
        <p:txBody>
          <a:bodyPr/>
          <a:lstStyle/>
          <a:p>
            <a:r>
              <a:rPr lang="en-US" sz="2800" dirty="0"/>
              <a:t>Responsible AI Considerations</a:t>
            </a:r>
            <a:br>
              <a:rPr lang="en-US" sz="2800" dirty="0"/>
            </a:br>
            <a:endParaRPr lang="en-US" sz="2800" dirty="0"/>
          </a:p>
        </p:txBody>
      </p:sp>
      <p:sp>
        <p:nvSpPr>
          <p:cNvPr id="3" name="Content Placeholder 2">
            <a:extLst>
              <a:ext uri="{FF2B5EF4-FFF2-40B4-BE49-F238E27FC236}">
                <a16:creationId xmlns:a16="http://schemas.microsoft.com/office/drawing/2014/main" id="{F9B63673-9B47-202A-89C9-8C5974EB55CA}"/>
              </a:ext>
            </a:extLst>
          </p:cNvPr>
          <p:cNvSpPr>
            <a:spLocks noGrp="1"/>
          </p:cNvSpPr>
          <p:nvPr>
            <p:ph sz="half" idx="2"/>
          </p:nvPr>
        </p:nvSpPr>
        <p:spPr>
          <a:xfrm>
            <a:off x="3460565" y="1273628"/>
            <a:ext cx="8731435" cy="6368143"/>
          </a:xfrm>
        </p:spPr>
        <p:txBody>
          <a:bodyPr>
            <a:noAutofit/>
          </a:bodyPr>
          <a:lstStyle/>
          <a:p>
            <a:r>
              <a:rPr lang="en-US" b="1" dirty="0"/>
              <a:t>Fairness:</a:t>
            </a:r>
            <a:r>
              <a:rPr lang="en-US" dirty="0"/>
              <a:t> The disease detection model is pretrained on a fixed set of crop and disease categories, and may underperform on plant varieties or regional crops not well-represented in its training data. This is a known, stated limitation — confidence scores are always displayed to the user rather than presented as certain fact, so they can calibrate how much to trust each result.</a:t>
            </a:r>
          </a:p>
          <a:p>
            <a:r>
              <a:rPr lang="en-US" b="1" dirty="0"/>
              <a:t>Transparency:</a:t>
            </a:r>
            <a:r>
              <a:rPr lang="en-US" dirty="0"/>
              <a:t> Every AI-derived result — species identification, disease detection, and the AI Plant Doctor's explanations — shows its confidence score or reasoning. Watering recommendations are deliberately rule-based rather than AI-generated, specifically so that decision is fully traceable and explainable rather than a black box.</a:t>
            </a:r>
          </a:p>
          <a:p>
            <a:r>
              <a:rPr lang="en-US" b="1" dirty="0"/>
              <a:t>Ethics:</a:t>
            </a:r>
            <a:r>
              <a:rPr lang="en-US" dirty="0"/>
              <a:t> The AI Plant Doctor is scoped as general care guidance, not a substitute for professional agronomic or plant pathology consultation, particularly for high-value or commercial crops. No content is generated that could mislead users into unsafe plant treatment decisions.</a:t>
            </a:r>
          </a:p>
          <a:p>
            <a:r>
              <a:rPr lang="en-US" b="1" dirty="0"/>
              <a:t>Privacy:</a:t>
            </a:r>
            <a:r>
              <a:rPr lang="en-US" dirty="0"/>
              <a:t> User accounts and all plant, diagnosis, and watering history are protected using </a:t>
            </a:r>
            <a:r>
              <a:rPr lang="en-US" dirty="0" err="1"/>
              <a:t>Supabase</a:t>
            </a:r>
            <a:r>
              <a:rPr lang="en-US" dirty="0"/>
              <a:t> Row Level Security, enforced at the database level — meaning no user can access another user's data even in the event of an application-layer bug. Uploaded images are used only transiently for analysis and are not persisted long-term on the deployed backend.</a:t>
            </a:r>
          </a:p>
          <a:p>
            <a:pPr marL="0" indent="0">
              <a:buNone/>
            </a:pPr>
            <a:endParaRPr lang="en-US" dirty="0"/>
          </a:p>
        </p:txBody>
      </p:sp>
      <p:sp>
        <p:nvSpPr>
          <p:cNvPr id="23" name="Slide Number Placeholder 22">
            <a:extLst>
              <a:ext uri="{FF2B5EF4-FFF2-40B4-BE49-F238E27FC236}">
                <a16:creationId xmlns:a16="http://schemas.microsoft.com/office/drawing/2014/main" id="{C996E817-96DC-CDD3-C2EC-28CB1E7E977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88871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BF91-14B1-F8A1-EB81-69719B553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DCD98-4246-02FE-080A-DA191426EAAF}"/>
              </a:ext>
            </a:extLst>
          </p:cNvPr>
          <p:cNvSpPr>
            <a:spLocks noGrp="1"/>
          </p:cNvSpPr>
          <p:nvPr>
            <p:ph type="title"/>
          </p:nvPr>
        </p:nvSpPr>
        <p:spPr>
          <a:xfrm>
            <a:off x="3460565" y="260916"/>
            <a:ext cx="7965461" cy="994164"/>
          </a:xfrm>
        </p:spPr>
        <p:txBody>
          <a:bodyPr/>
          <a:lstStyle/>
          <a:p>
            <a:r>
              <a:rPr lang="en-US" sz="2800" dirty="0"/>
              <a:t>Expected Impact</a:t>
            </a:r>
            <a:br>
              <a:rPr lang="en-US" sz="2800" dirty="0"/>
            </a:br>
            <a:endParaRPr lang="en-US" sz="2800" dirty="0"/>
          </a:p>
        </p:txBody>
      </p:sp>
      <p:sp>
        <p:nvSpPr>
          <p:cNvPr id="3" name="Content Placeholder 2">
            <a:extLst>
              <a:ext uri="{FF2B5EF4-FFF2-40B4-BE49-F238E27FC236}">
                <a16:creationId xmlns:a16="http://schemas.microsoft.com/office/drawing/2014/main" id="{BB4C75E3-6DC5-317C-D5B0-B1A7F23C524B}"/>
              </a:ext>
            </a:extLst>
          </p:cNvPr>
          <p:cNvSpPr>
            <a:spLocks noGrp="1"/>
          </p:cNvSpPr>
          <p:nvPr>
            <p:ph sz="half" idx="2"/>
          </p:nvPr>
        </p:nvSpPr>
        <p:spPr>
          <a:xfrm>
            <a:off x="3460565" y="1273628"/>
            <a:ext cx="8731435" cy="6368143"/>
          </a:xfrm>
        </p:spPr>
        <p:txBody>
          <a:bodyPr>
            <a:noAutofit/>
          </a:bodyPr>
          <a:lstStyle/>
          <a:p>
            <a:r>
              <a:rPr lang="en-US" sz="2400" dirty="0"/>
              <a:t>By replacing guesswork with real-time, data-backed guidance, users receive immediate feedback on plant health and evidence-based watering recommendations instead of relying on trial and error. This directly reduces unnecessary watering — tracked through the app's estimated-liters-saved metric — and helps catch disease early enough to intervene before significant plant loss.</a:t>
            </a:r>
          </a:p>
          <a:p>
            <a:r>
              <a:rPr lang="en-US" sz="2400" dirty="0"/>
              <a:t>At an individual level, this means healthier plants and less wasted water for everyday gardeners. At scale, aggregated behavior change across many small growers contributes to more efficient household-level resource use, supporting SDG 12 (Responsible Consumption and Production) through reduced water waste, and SDG 15 (Life on Land) through improved plant health outcomes at the individual-grower level.</a:t>
            </a:r>
          </a:p>
          <a:p>
            <a:pPr marL="0" indent="0">
              <a:buNone/>
            </a:pPr>
            <a:endParaRPr lang="en-US" sz="2400" dirty="0"/>
          </a:p>
        </p:txBody>
      </p:sp>
      <p:sp>
        <p:nvSpPr>
          <p:cNvPr id="23" name="Slide Number Placeholder 22">
            <a:extLst>
              <a:ext uri="{FF2B5EF4-FFF2-40B4-BE49-F238E27FC236}">
                <a16:creationId xmlns:a16="http://schemas.microsoft.com/office/drawing/2014/main" id="{40BE3C65-4231-0BB9-0401-41BC11F84BF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902512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3305-6944-9DE4-6494-A8ABF758B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94230-BBEA-17A5-9315-745C47D1E6BA}"/>
              </a:ext>
            </a:extLst>
          </p:cNvPr>
          <p:cNvSpPr>
            <a:spLocks noGrp="1"/>
          </p:cNvSpPr>
          <p:nvPr>
            <p:ph type="title"/>
          </p:nvPr>
        </p:nvSpPr>
        <p:spPr>
          <a:xfrm>
            <a:off x="3460565" y="260916"/>
            <a:ext cx="7965461" cy="994164"/>
          </a:xfrm>
        </p:spPr>
        <p:txBody>
          <a:bodyPr/>
          <a:lstStyle/>
          <a:p>
            <a:r>
              <a:rPr lang="en-US" sz="2800" dirty="0"/>
              <a:t>Role of </a:t>
            </a:r>
            <a:r>
              <a:rPr lang="en-US" sz="2800" dirty="0" err="1"/>
              <a:t>ibm</a:t>
            </a:r>
            <a:r>
              <a:rPr lang="en-US" sz="2800" dirty="0"/>
              <a:t> bob</a:t>
            </a:r>
            <a:br>
              <a:rPr lang="en-US" sz="2800" dirty="0"/>
            </a:br>
            <a:endParaRPr lang="en-US" sz="2800" dirty="0"/>
          </a:p>
        </p:txBody>
      </p:sp>
      <p:sp>
        <p:nvSpPr>
          <p:cNvPr id="3" name="Content Placeholder 2">
            <a:extLst>
              <a:ext uri="{FF2B5EF4-FFF2-40B4-BE49-F238E27FC236}">
                <a16:creationId xmlns:a16="http://schemas.microsoft.com/office/drawing/2014/main" id="{7FE38A61-BE1E-BFE9-EDD4-C6631CD7699D}"/>
              </a:ext>
            </a:extLst>
          </p:cNvPr>
          <p:cNvSpPr>
            <a:spLocks noGrp="1"/>
          </p:cNvSpPr>
          <p:nvPr>
            <p:ph sz="half" idx="2"/>
          </p:nvPr>
        </p:nvSpPr>
        <p:spPr>
          <a:xfrm>
            <a:off x="3460565" y="1273628"/>
            <a:ext cx="8731435" cy="6368143"/>
          </a:xfrm>
        </p:spPr>
        <p:txBody>
          <a:bodyPr>
            <a:noAutofit/>
          </a:bodyPr>
          <a:lstStyle/>
          <a:p>
            <a:pPr marL="0" indent="0">
              <a:buNone/>
            </a:pPr>
            <a:r>
              <a:rPr lang="en-US" sz="2400" dirty="0"/>
              <a:t>IBM Bob was used during the early ideation and planning phase of </a:t>
            </a:r>
            <a:r>
              <a:rPr lang="en-US" sz="2400" b="1" dirty="0" err="1"/>
              <a:t>PlantCare</a:t>
            </a:r>
            <a:r>
              <a:rPr lang="en-US" sz="2400" b="1" dirty="0"/>
              <a:t> AI</a:t>
            </a:r>
            <a:r>
              <a:rPr lang="en-US" sz="2400" dirty="0"/>
              <a:t>, prior to writing any code. It helped structure the project's initial scope — breaking down the broad idea of an "AI plant health assistant" into a concrete feature set (plant identification, disease detection, weather-aware watering, and sustainability tracking) and informing the overall system architecture and development sequence that guided the build. Its role was confined to ideation and planning; the application's runtime AI components (disease classification, species identification, and natural-language explanation) are handled by separate, purpose-built services described in the AI Solution Overview.</a:t>
            </a:r>
          </a:p>
        </p:txBody>
      </p:sp>
      <p:sp>
        <p:nvSpPr>
          <p:cNvPr id="23" name="Slide Number Placeholder 22">
            <a:extLst>
              <a:ext uri="{FF2B5EF4-FFF2-40B4-BE49-F238E27FC236}">
                <a16:creationId xmlns:a16="http://schemas.microsoft.com/office/drawing/2014/main" id="{3289BA9E-2F5C-50AD-E039-2FA9FC130BA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533916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6B67-5A97-AB83-E293-688A1EDB4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61447-BEED-8989-1CDA-51868B53F00A}"/>
              </a:ext>
            </a:extLst>
          </p:cNvPr>
          <p:cNvSpPr>
            <a:spLocks noGrp="1"/>
          </p:cNvSpPr>
          <p:nvPr>
            <p:ph type="title"/>
          </p:nvPr>
        </p:nvSpPr>
        <p:spPr>
          <a:xfrm>
            <a:off x="2721429" y="101291"/>
            <a:ext cx="8704597" cy="994164"/>
          </a:xfrm>
        </p:spPr>
        <p:txBody>
          <a:bodyPr/>
          <a:lstStyle/>
          <a:p>
            <a:r>
              <a:rPr lang="en-US" sz="2000" dirty="0"/>
              <a:t>Agent logic</a:t>
            </a:r>
            <a:br>
              <a:rPr lang="en-US" sz="2000" dirty="0"/>
            </a:br>
            <a:endParaRPr lang="en-US" sz="2000" dirty="0"/>
          </a:p>
        </p:txBody>
      </p:sp>
      <p:sp>
        <p:nvSpPr>
          <p:cNvPr id="3" name="Content Placeholder 2">
            <a:extLst>
              <a:ext uri="{FF2B5EF4-FFF2-40B4-BE49-F238E27FC236}">
                <a16:creationId xmlns:a16="http://schemas.microsoft.com/office/drawing/2014/main" id="{4F53B778-EFAE-5ADD-D7AA-B0D46A604F8B}"/>
              </a:ext>
            </a:extLst>
          </p:cNvPr>
          <p:cNvSpPr>
            <a:spLocks noGrp="1"/>
          </p:cNvSpPr>
          <p:nvPr>
            <p:ph sz="half" idx="2"/>
          </p:nvPr>
        </p:nvSpPr>
        <p:spPr>
          <a:xfrm>
            <a:off x="2721429" y="1451362"/>
            <a:ext cx="9470571" cy="6190409"/>
          </a:xfrm>
        </p:spPr>
        <p:txBody>
          <a:bodyPr>
            <a:noAutofit/>
          </a:bodyPr>
          <a:lstStyle/>
          <a:p>
            <a:pPr marL="0" indent="0">
              <a:buNone/>
            </a:pPr>
            <a:r>
              <a:rPr lang="en-US" sz="1600" dirty="0"/>
              <a:t>While </a:t>
            </a:r>
            <a:r>
              <a:rPr lang="en-US" sz="1600" dirty="0" err="1"/>
              <a:t>PlantCare</a:t>
            </a:r>
            <a:r>
              <a:rPr lang="en-US" sz="1600" dirty="0"/>
              <a:t> AI does not use a dedicated agent framework, its backend orchestration follows agentic principles: given a single input (an uploaded leaf photo), the system autonomously determines which services to call, runs independent ones in parallel, and conditionally chains dependent steps based on the outcome of earlier ones — rather than following one fixed, linear script regardless of context.</a:t>
            </a:r>
          </a:p>
          <a:p>
            <a:pPr marL="0" indent="0">
              <a:buNone/>
            </a:pPr>
            <a:r>
              <a:rPr lang="en-US" sz="1600" b="1" dirty="0"/>
              <a:t>Decision logic, step by step:</a:t>
            </a:r>
            <a:endParaRPr lang="en-US" sz="1600" dirty="0"/>
          </a:p>
          <a:p>
            <a:pPr lvl="0"/>
            <a:r>
              <a:rPr lang="en-US" sz="1600" b="1" dirty="0"/>
              <a:t>Parallel dispatch</a:t>
            </a:r>
            <a:r>
              <a:rPr lang="en-US" sz="1600" dirty="0"/>
              <a:t> — On receiving an image, the system calls </a:t>
            </a:r>
            <a:r>
              <a:rPr lang="en-US" sz="1600" dirty="0" err="1"/>
              <a:t>PlantNet</a:t>
            </a:r>
            <a:r>
              <a:rPr lang="en-US" sz="1600" dirty="0"/>
              <a:t> (species identification) and the local vision model (disease detection) simultaneously, since neither depends on the other's result.</a:t>
            </a:r>
          </a:p>
          <a:p>
            <a:pPr lvl="0"/>
            <a:r>
              <a:rPr lang="en-US" sz="1600" b="1" dirty="0"/>
              <a:t>Conditional escalation</a:t>
            </a:r>
            <a:r>
              <a:rPr lang="en-US" sz="1600" dirty="0"/>
              <a:t> — The AI Plant Doctor (LLM explanation) is only invoked once </a:t>
            </a:r>
            <a:r>
              <a:rPr lang="en-US" sz="1600" i="1" dirty="0"/>
              <a:t>both</a:t>
            </a:r>
            <a:r>
              <a:rPr lang="en-US" sz="1600" dirty="0"/>
              <a:t> species and disease results are available — it does not fire on partial or incomplete diagnostic data.</a:t>
            </a:r>
          </a:p>
          <a:p>
            <a:pPr lvl="0"/>
            <a:r>
              <a:rPr lang="en-US" sz="1600" b="1" dirty="0"/>
              <a:t>Graceful degradation</a:t>
            </a:r>
            <a:r>
              <a:rPr lang="en-US" sz="1600" dirty="0"/>
              <a:t> — If weather data is unavailable (denied location permission, or the weather API failing), the system does not block or fail — it continues the pipeline, and the AI Doctor's prompt is dynamically constructed with or without weather context depending on what's actually present.</a:t>
            </a:r>
          </a:p>
          <a:p>
            <a:pPr lvl="0"/>
            <a:r>
              <a:rPr lang="en-US" sz="1600" b="1" dirty="0"/>
              <a:t>State-dependent branching</a:t>
            </a:r>
            <a:r>
              <a:rPr lang="en-US" sz="1600" dirty="0"/>
              <a:t> — The watering recommendation engine checks for a saved </a:t>
            </a:r>
            <a:r>
              <a:rPr lang="en-US" sz="1600" dirty="0" err="1"/>
              <a:t>plant_id</a:t>
            </a:r>
            <a:r>
              <a:rPr lang="en-US" sz="1600" dirty="0"/>
              <a:t> before deciding whether to log the interaction to the sustainability tracker, allowing the same endpoint to serve both first-time (unsaved) and returning (saved) usage without duplicating logic.</a:t>
            </a:r>
          </a:p>
          <a:p>
            <a:pPr lvl="0"/>
            <a:r>
              <a:rPr lang="en-US" sz="1600" b="1" dirty="0"/>
              <a:t>Independent failure handling</a:t>
            </a:r>
            <a:r>
              <a:rPr lang="en-US" sz="1600" dirty="0"/>
              <a:t> — Each external call (</a:t>
            </a:r>
            <a:r>
              <a:rPr lang="en-US" sz="1600" dirty="0" err="1"/>
              <a:t>PlantNet</a:t>
            </a:r>
            <a:r>
              <a:rPr lang="en-US" sz="1600" dirty="0"/>
              <a:t>, weather, LLM) is wrapped in its own error boundary, so one service failing does not cascade into failing the others — the system adapts its response based on which components succeeded.</a:t>
            </a:r>
          </a:p>
          <a:p>
            <a:pPr marL="0" indent="0">
              <a:buNone/>
            </a:pPr>
            <a:endParaRPr lang="en-US" sz="1600" dirty="0"/>
          </a:p>
        </p:txBody>
      </p:sp>
      <p:sp>
        <p:nvSpPr>
          <p:cNvPr id="23" name="Slide Number Placeholder 22">
            <a:extLst>
              <a:ext uri="{FF2B5EF4-FFF2-40B4-BE49-F238E27FC236}">
                <a16:creationId xmlns:a16="http://schemas.microsoft.com/office/drawing/2014/main" id="{018BDF3D-720F-426B-7511-5DCB2A3F332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716216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flipV="1">
            <a:off x="4560751" y="221456"/>
            <a:ext cx="7043617" cy="471488"/>
          </a:xfrm>
        </p:spPr>
        <p:txBody>
          <a:bodyPr/>
          <a:lstStyle/>
          <a:p>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pic>
        <p:nvPicPr>
          <p:cNvPr id="8" name="Content Placeholder 7">
            <a:extLst>
              <a:ext uri="{FF2B5EF4-FFF2-40B4-BE49-F238E27FC236}">
                <a16:creationId xmlns:a16="http://schemas.microsoft.com/office/drawing/2014/main" id="{8A26C7E2-D5CB-01C1-D4DE-8FFC14BD8743}"/>
              </a:ext>
            </a:extLst>
          </p:cNvPr>
          <p:cNvPicPr>
            <a:picLocks noGrp="1" noChangeAspect="1"/>
          </p:cNvPicPr>
          <p:nvPr>
            <p:ph idx="11"/>
          </p:nvPr>
        </p:nvPicPr>
        <p:blipFill>
          <a:blip r:embed="rId3"/>
          <a:stretch>
            <a:fillRect/>
          </a:stretch>
        </p:blipFill>
        <p:spPr>
          <a:xfrm>
            <a:off x="3712029" y="0"/>
            <a:ext cx="8229599" cy="6858000"/>
          </a:xfrm>
          <a:prstGeom prst="rect">
            <a:avLst/>
          </a:prstGeom>
        </p:spPr>
      </p:pic>
      <p:sp>
        <p:nvSpPr>
          <p:cNvPr id="6" name="TextBox 5">
            <a:extLst>
              <a:ext uri="{FF2B5EF4-FFF2-40B4-BE49-F238E27FC236}">
                <a16:creationId xmlns:a16="http://schemas.microsoft.com/office/drawing/2014/main" id="{C2AF9C11-EB5F-B559-6E67-F42FB9A6CEFC}"/>
              </a:ext>
            </a:extLst>
          </p:cNvPr>
          <p:cNvSpPr txBox="1"/>
          <p:nvPr/>
        </p:nvSpPr>
        <p:spPr>
          <a:xfrm>
            <a:off x="435430" y="1469571"/>
            <a:ext cx="2263902" cy="1323439"/>
          </a:xfrm>
          <a:prstGeom prst="rect">
            <a:avLst/>
          </a:prstGeom>
          <a:noFill/>
        </p:spPr>
        <p:txBody>
          <a:bodyPr wrap="square" rtlCol="0">
            <a:spAutoFit/>
          </a:bodyPr>
          <a:lstStyle/>
          <a:p>
            <a:r>
              <a:rPr lang="en-US" sz="4000" b="1" dirty="0"/>
              <a:t>Flow Diagram</a:t>
            </a:r>
          </a:p>
        </p:txBody>
      </p:sp>
    </p:spTree>
    <p:extLst>
      <p:ext uri="{BB962C8B-B14F-4D97-AF65-F5344CB8AC3E}">
        <p14:creationId xmlns:p14="http://schemas.microsoft.com/office/powerpoint/2010/main" val="1131718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926771" y="357634"/>
            <a:ext cx="9499255" cy="471490"/>
          </a:xfrm>
        </p:spPr>
        <p:txBody>
          <a:bodyPr/>
          <a:lstStyle/>
          <a:p>
            <a:r>
              <a:rPr lang="en-US" sz="2000" dirty="0"/>
              <a:t>Screenshots</a:t>
            </a:r>
          </a:p>
        </p:txBody>
      </p:sp>
      <p:pic>
        <p:nvPicPr>
          <p:cNvPr id="5" name="Content Placeholder 4">
            <a:extLst>
              <a:ext uri="{FF2B5EF4-FFF2-40B4-BE49-F238E27FC236}">
                <a16:creationId xmlns:a16="http://schemas.microsoft.com/office/drawing/2014/main" id="{393DC0D3-FF2B-FA57-C17A-AE73A7FDAC3B}"/>
              </a:ext>
            </a:extLst>
          </p:cNvPr>
          <p:cNvPicPr>
            <a:picLocks noGrp="1" noChangeAspect="1"/>
          </p:cNvPicPr>
          <p:nvPr>
            <p:ph sz="half" idx="2"/>
          </p:nvPr>
        </p:nvPicPr>
        <p:blipFill>
          <a:blip r:embed="rId3"/>
          <a:stretch>
            <a:fillRect/>
          </a:stretch>
        </p:blipFill>
        <p:spPr>
          <a:xfrm>
            <a:off x="1550987" y="1219200"/>
            <a:ext cx="10281783" cy="5377543"/>
          </a:xfrm>
          <a:prstGeom prst="rect">
            <a:avLst/>
          </a:prstGeom>
        </p:spPr>
      </p:pic>
      <p:sp>
        <p:nvSpPr>
          <p:cNvPr id="13" name="Content Placeholder 7">
            <a:extLst>
              <a:ext uri="{FF2B5EF4-FFF2-40B4-BE49-F238E27FC236}">
                <a16:creationId xmlns:a16="http://schemas.microsoft.com/office/drawing/2014/main" id="{0853098E-C088-D323-4BF2-987893F262F6}"/>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ACFB-3C25-3B58-21E0-EE70805556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187E1E-C739-51A4-83CD-F2FEE614F461}"/>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B27181BB-0125-4190-C60E-ABA59856BAA8}"/>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3A23A105-19FE-C87B-EF8B-3CFBC2C40389}"/>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13</a:t>
            </a:fld>
            <a:endParaRPr lang="en-US" dirty="0"/>
          </a:p>
        </p:txBody>
      </p:sp>
      <p:pic>
        <p:nvPicPr>
          <p:cNvPr id="8" name="Content Placeholder 7">
            <a:extLst>
              <a:ext uri="{FF2B5EF4-FFF2-40B4-BE49-F238E27FC236}">
                <a16:creationId xmlns:a16="http://schemas.microsoft.com/office/drawing/2014/main" id="{1F38EE79-AE98-9414-CA61-645BFCE72BAD}"/>
              </a:ext>
            </a:extLst>
          </p:cNvPr>
          <p:cNvPicPr>
            <a:picLocks noGrp="1" noChangeAspect="1"/>
          </p:cNvPicPr>
          <p:nvPr>
            <p:ph sz="half" idx="2"/>
          </p:nvPr>
        </p:nvPicPr>
        <p:blipFill>
          <a:blip r:embed="rId3"/>
          <a:stretch>
            <a:fillRect/>
          </a:stretch>
        </p:blipFill>
        <p:spPr>
          <a:xfrm>
            <a:off x="1550988" y="1219199"/>
            <a:ext cx="10253100" cy="5366657"/>
          </a:xfrm>
          <a:prstGeom prst="rect">
            <a:avLst/>
          </a:prstGeom>
        </p:spPr>
      </p:pic>
    </p:spTree>
    <p:extLst>
      <p:ext uri="{BB962C8B-B14F-4D97-AF65-F5344CB8AC3E}">
        <p14:creationId xmlns:p14="http://schemas.microsoft.com/office/powerpoint/2010/main" val="147164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77C8B-83C2-77A4-BAE4-FFE9A66D0F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37A608-C96E-9D32-71A9-A8A489C53970}"/>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FDA73ABE-EC08-B0C7-3A75-1CC0AF01A5F4}"/>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65953D4B-635B-B5B2-A60A-088AA7B7CC7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14</a:t>
            </a:fld>
            <a:endParaRPr lang="en-US" dirty="0"/>
          </a:p>
        </p:txBody>
      </p:sp>
      <p:pic>
        <p:nvPicPr>
          <p:cNvPr id="8" name="Content Placeholder 7">
            <a:extLst>
              <a:ext uri="{FF2B5EF4-FFF2-40B4-BE49-F238E27FC236}">
                <a16:creationId xmlns:a16="http://schemas.microsoft.com/office/drawing/2014/main" id="{6968B398-46D4-D37E-BB27-E61E20C6C2C9}"/>
              </a:ext>
            </a:extLst>
          </p:cNvPr>
          <p:cNvPicPr>
            <a:picLocks noGrp="1" noChangeAspect="1"/>
          </p:cNvPicPr>
          <p:nvPr>
            <p:ph sz="half" idx="2"/>
          </p:nvPr>
        </p:nvPicPr>
        <p:blipFill>
          <a:blip r:embed="rId3"/>
          <a:stretch>
            <a:fillRect/>
          </a:stretch>
        </p:blipFill>
        <p:spPr>
          <a:xfrm>
            <a:off x="1550988" y="1143000"/>
            <a:ext cx="10253100" cy="5357366"/>
          </a:xfrm>
          <a:prstGeom prst="rect">
            <a:avLst/>
          </a:prstGeom>
        </p:spPr>
      </p:pic>
    </p:spTree>
    <p:extLst>
      <p:ext uri="{BB962C8B-B14F-4D97-AF65-F5344CB8AC3E}">
        <p14:creationId xmlns:p14="http://schemas.microsoft.com/office/powerpoint/2010/main" val="3694484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9582B-E8FE-C11F-C9D8-95E4D0A1D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F45E24-585B-0948-0A10-E9B5AD52762D}"/>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DF810E0B-7B73-58BF-EA16-C02CF5D956CC}"/>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F1326FC5-6457-C677-37E6-5CDFB15F8913}"/>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15</a:t>
            </a:fld>
            <a:endParaRPr lang="en-US" dirty="0"/>
          </a:p>
        </p:txBody>
      </p:sp>
      <p:pic>
        <p:nvPicPr>
          <p:cNvPr id="5" name="Content Placeholder 4">
            <a:extLst>
              <a:ext uri="{FF2B5EF4-FFF2-40B4-BE49-F238E27FC236}">
                <a16:creationId xmlns:a16="http://schemas.microsoft.com/office/drawing/2014/main" id="{46732F48-9901-C632-4791-ADD657FEA6F9}"/>
              </a:ext>
            </a:extLst>
          </p:cNvPr>
          <p:cNvPicPr>
            <a:picLocks noGrp="1" noChangeAspect="1"/>
          </p:cNvPicPr>
          <p:nvPr>
            <p:ph sz="half" idx="2"/>
          </p:nvPr>
        </p:nvPicPr>
        <p:blipFill>
          <a:blip r:embed="rId3"/>
          <a:stretch>
            <a:fillRect/>
          </a:stretch>
        </p:blipFill>
        <p:spPr>
          <a:xfrm>
            <a:off x="1550988" y="1110344"/>
            <a:ext cx="10253100" cy="5390022"/>
          </a:xfrm>
          <a:prstGeom prst="rect">
            <a:avLst/>
          </a:prstGeom>
        </p:spPr>
      </p:pic>
    </p:spTree>
    <p:extLst>
      <p:ext uri="{BB962C8B-B14F-4D97-AF65-F5344CB8AC3E}">
        <p14:creationId xmlns:p14="http://schemas.microsoft.com/office/powerpoint/2010/main" val="1666933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CA14E-930D-AD34-683F-69FAC85ADA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082C9B-D37D-E5FA-CA76-A5AE2B8CCA71}"/>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E0195DDF-CA56-D216-648E-69730EA4D31E}"/>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A5DDD37A-4359-0CC7-8804-6F383068E07D}"/>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16</a:t>
            </a:fld>
            <a:endParaRPr lang="en-US" dirty="0"/>
          </a:p>
        </p:txBody>
      </p:sp>
      <p:pic>
        <p:nvPicPr>
          <p:cNvPr id="5" name="Content Placeholder 4">
            <a:extLst>
              <a:ext uri="{FF2B5EF4-FFF2-40B4-BE49-F238E27FC236}">
                <a16:creationId xmlns:a16="http://schemas.microsoft.com/office/drawing/2014/main" id="{D6A02854-4E05-D255-1776-1B5AB9A10BAB}"/>
              </a:ext>
            </a:extLst>
          </p:cNvPr>
          <p:cNvPicPr>
            <a:picLocks noGrp="1" noChangeAspect="1"/>
          </p:cNvPicPr>
          <p:nvPr>
            <p:ph sz="half" idx="2"/>
          </p:nvPr>
        </p:nvPicPr>
        <p:blipFill>
          <a:blip r:embed="rId3"/>
          <a:stretch>
            <a:fillRect/>
          </a:stretch>
        </p:blipFill>
        <p:spPr>
          <a:xfrm>
            <a:off x="1550988" y="1066800"/>
            <a:ext cx="10253100" cy="5433566"/>
          </a:xfrm>
          <a:prstGeom prst="rect">
            <a:avLst/>
          </a:prstGeom>
        </p:spPr>
      </p:pic>
    </p:spTree>
    <p:extLst>
      <p:ext uri="{BB962C8B-B14F-4D97-AF65-F5344CB8AC3E}">
        <p14:creationId xmlns:p14="http://schemas.microsoft.com/office/powerpoint/2010/main" val="2115503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83A20-9DCA-51A8-1350-91EE3973F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94B6E6-96C9-C139-B701-E5FACC0B6FCD}"/>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4C5BDDD9-6374-1F84-0597-7D6355F51FC3}"/>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C841068A-5E03-4E37-8F6B-2D0BF2993C89}"/>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17</a:t>
            </a:fld>
            <a:endParaRPr lang="en-US" dirty="0"/>
          </a:p>
        </p:txBody>
      </p:sp>
      <p:pic>
        <p:nvPicPr>
          <p:cNvPr id="5" name="Content Placeholder 4">
            <a:extLst>
              <a:ext uri="{FF2B5EF4-FFF2-40B4-BE49-F238E27FC236}">
                <a16:creationId xmlns:a16="http://schemas.microsoft.com/office/drawing/2014/main" id="{A772816B-1508-CB01-69EE-8A6C67082996}"/>
              </a:ext>
            </a:extLst>
          </p:cNvPr>
          <p:cNvPicPr>
            <a:picLocks noGrp="1" noChangeAspect="1"/>
          </p:cNvPicPr>
          <p:nvPr>
            <p:ph sz="half" idx="2"/>
          </p:nvPr>
        </p:nvPicPr>
        <p:blipFill>
          <a:blip r:embed="rId3"/>
          <a:stretch>
            <a:fillRect/>
          </a:stretch>
        </p:blipFill>
        <p:spPr>
          <a:xfrm>
            <a:off x="1550988" y="1121229"/>
            <a:ext cx="10253100" cy="5379137"/>
          </a:xfrm>
          <a:prstGeom prst="rect">
            <a:avLst/>
          </a:prstGeom>
        </p:spPr>
      </p:pic>
    </p:spTree>
    <p:extLst>
      <p:ext uri="{BB962C8B-B14F-4D97-AF65-F5344CB8AC3E}">
        <p14:creationId xmlns:p14="http://schemas.microsoft.com/office/powerpoint/2010/main" val="714106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4BD4-41DF-53BC-9CD2-8E37D223CC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5447C2-19B1-FD7F-3162-16E2E6E9838D}"/>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BA0120F0-13A7-34CA-3513-D7D31728E848}"/>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2A88CA97-D317-EA18-FACB-4C1B020E003D}"/>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18</a:t>
            </a:fld>
            <a:endParaRPr lang="en-US" dirty="0"/>
          </a:p>
        </p:txBody>
      </p:sp>
      <p:pic>
        <p:nvPicPr>
          <p:cNvPr id="5" name="Content Placeholder 4">
            <a:extLst>
              <a:ext uri="{FF2B5EF4-FFF2-40B4-BE49-F238E27FC236}">
                <a16:creationId xmlns:a16="http://schemas.microsoft.com/office/drawing/2014/main" id="{9072DEEF-7115-5260-B4F1-31381F81CDB1}"/>
              </a:ext>
            </a:extLst>
          </p:cNvPr>
          <p:cNvPicPr>
            <a:picLocks noGrp="1" noChangeAspect="1"/>
          </p:cNvPicPr>
          <p:nvPr>
            <p:ph sz="half" idx="2"/>
          </p:nvPr>
        </p:nvPicPr>
        <p:blipFill>
          <a:blip r:embed="rId3"/>
          <a:stretch>
            <a:fillRect/>
          </a:stretch>
        </p:blipFill>
        <p:spPr>
          <a:xfrm>
            <a:off x="1550988" y="1066800"/>
            <a:ext cx="10253100" cy="5540829"/>
          </a:xfrm>
          <a:prstGeom prst="rect">
            <a:avLst/>
          </a:prstGeom>
        </p:spPr>
      </p:pic>
    </p:spTree>
    <p:extLst>
      <p:ext uri="{BB962C8B-B14F-4D97-AF65-F5344CB8AC3E}">
        <p14:creationId xmlns:p14="http://schemas.microsoft.com/office/powerpoint/2010/main" val="2112321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28227-8D82-9081-4D8E-1E29B171CB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0A8921-1013-AAAC-B8D1-4BCF94CF5109}"/>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C9596BC8-BF70-8447-57E5-D0B8CFD4CB73}"/>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7981D12F-ACE4-6944-AFCD-0CC9DF827C7B}"/>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pic>
        <p:nvPicPr>
          <p:cNvPr id="5" name="Content Placeholder 4">
            <a:extLst>
              <a:ext uri="{FF2B5EF4-FFF2-40B4-BE49-F238E27FC236}">
                <a16:creationId xmlns:a16="http://schemas.microsoft.com/office/drawing/2014/main" id="{8111A80B-4128-21E0-0C20-142D90CA76E8}"/>
              </a:ext>
            </a:extLst>
          </p:cNvPr>
          <p:cNvPicPr>
            <a:picLocks noGrp="1" noChangeAspect="1"/>
          </p:cNvPicPr>
          <p:nvPr>
            <p:ph sz="half" idx="2"/>
          </p:nvPr>
        </p:nvPicPr>
        <p:blipFill>
          <a:blip r:embed="rId3"/>
          <a:stretch>
            <a:fillRect/>
          </a:stretch>
        </p:blipFill>
        <p:spPr>
          <a:xfrm>
            <a:off x="1550988" y="1055914"/>
            <a:ext cx="10253100" cy="5562600"/>
          </a:xfrm>
          <a:prstGeom prst="rect">
            <a:avLst/>
          </a:prstGeom>
        </p:spPr>
      </p:pic>
    </p:spTree>
    <p:extLst>
      <p:ext uri="{BB962C8B-B14F-4D97-AF65-F5344CB8AC3E}">
        <p14:creationId xmlns:p14="http://schemas.microsoft.com/office/powerpoint/2010/main" val="392184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8C80-3B83-4834-603E-6FA569FBE5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CB0C65-1787-CD3C-8D49-2383AEB1B2B7}"/>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4A82ED3D-C78C-FBC6-E434-35671E30EA97}"/>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796D2F3D-E611-D952-0AD1-8E8B4D126D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dirty="0"/>
          </a:p>
        </p:txBody>
      </p:sp>
      <p:pic>
        <p:nvPicPr>
          <p:cNvPr id="5" name="Content Placeholder 4">
            <a:extLst>
              <a:ext uri="{FF2B5EF4-FFF2-40B4-BE49-F238E27FC236}">
                <a16:creationId xmlns:a16="http://schemas.microsoft.com/office/drawing/2014/main" id="{6FBE298F-59C4-4DB7-8473-C4505F3D33AE}"/>
              </a:ext>
            </a:extLst>
          </p:cNvPr>
          <p:cNvPicPr>
            <a:picLocks noGrp="1" noChangeAspect="1"/>
          </p:cNvPicPr>
          <p:nvPr>
            <p:ph sz="half" idx="2"/>
          </p:nvPr>
        </p:nvPicPr>
        <p:blipFill>
          <a:blip r:embed="rId3"/>
          <a:stretch>
            <a:fillRect/>
          </a:stretch>
        </p:blipFill>
        <p:spPr>
          <a:xfrm>
            <a:off x="1550988" y="1099458"/>
            <a:ext cx="10253100" cy="5400908"/>
          </a:xfrm>
          <a:prstGeom prst="rect">
            <a:avLst/>
          </a:prstGeom>
        </p:spPr>
      </p:pic>
    </p:spTree>
    <p:extLst>
      <p:ext uri="{BB962C8B-B14F-4D97-AF65-F5344CB8AC3E}">
        <p14:creationId xmlns:p14="http://schemas.microsoft.com/office/powerpoint/2010/main" val="616732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28395-201A-B6C8-8DE6-E3B8C933D0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8E5C62-B88F-C18C-CC26-07B6520B5FB6}"/>
              </a:ext>
            </a:extLst>
          </p:cNvPr>
          <p:cNvSpPr>
            <a:spLocks noGrp="1"/>
          </p:cNvSpPr>
          <p:nvPr>
            <p:ph type="title"/>
          </p:nvPr>
        </p:nvSpPr>
        <p:spPr>
          <a:xfrm>
            <a:off x="1926771" y="357634"/>
            <a:ext cx="9499255" cy="471490"/>
          </a:xfrm>
        </p:spPr>
        <p:txBody>
          <a:bodyPr/>
          <a:lstStyle/>
          <a:p>
            <a:r>
              <a:rPr lang="en-US" sz="2000" dirty="0"/>
              <a:t>Screenshots</a:t>
            </a:r>
          </a:p>
        </p:txBody>
      </p:sp>
      <p:sp>
        <p:nvSpPr>
          <p:cNvPr id="13" name="Content Placeholder 7">
            <a:extLst>
              <a:ext uri="{FF2B5EF4-FFF2-40B4-BE49-F238E27FC236}">
                <a16:creationId xmlns:a16="http://schemas.microsoft.com/office/drawing/2014/main" id="{E7EFCFE7-753D-97C5-0474-E3BC2E7102A6}"/>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8F03290C-BC78-066F-41B9-D9A78A12385B}"/>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21</a:t>
            </a:fld>
            <a:endParaRPr lang="en-US" dirty="0"/>
          </a:p>
        </p:txBody>
      </p:sp>
      <p:pic>
        <p:nvPicPr>
          <p:cNvPr id="5" name="Content Placeholder 4">
            <a:extLst>
              <a:ext uri="{FF2B5EF4-FFF2-40B4-BE49-F238E27FC236}">
                <a16:creationId xmlns:a16="http://schemas.microsoft.com/office/drawing/2014/main" id="{8A6632D2-3CF5-F7E3-C705-ADDBB4D1E157}"/>
              </a:ext>
            </a:extLst>
          </p:cNvPr>
          <p:cNvPicPr>
            <a:picLocks noGrp="1" noChangeAspect="1"/>
          </p:cNvPicPr>
          <p:nvPr>
            <p:ph sz="half" idx="2"/>
          </p:nvPr>
        </p:nvPicPr>
        <p:blipFill>
          <a:blip r:embed="rId3"/>
          <a:stretch>
            <a:fillRect/>
          </a:stretch>
        </p:blipFill>
        <p:spPr>
          <a:xfrm>
            <a:off x="1550988" y="1055914"/>
            <a:ext cx="10253100" cy="5444452"/>
          </a:xfrm>
          <a:prstGeom prst="rect">
            <a:avLst/>
          </a:prstGeom>
        </p:spPr>
      </p:pic>
    </p:spTree>
    <p:extLst>
      <p:ext uri="{BB962C8B-B14F-4D97-AF65-F5344CB8AC3E}">
        <p14:creationId xmlns:p14="http://schemas.microsoft.com/office/powerpoint/2010/main" val="802796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35D19-F61A-3C09-B707-4472362250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802BC4-1B24-ED03-1596-206134BEE4E0}"/>
              </a:ext>
            </a:extLst>
          </p:cNvPr>
          <p:cNvSpPr>
            <a:spLocks noGrp="1"/>
          </p:cNvSpPr>
          <p:nvPr>
            <p:ph type="title"/>
          </p:nvPr>
        </p:nvSpPr>
        <p:spPr>
          <a:xfrm>
            <a:off x="1926771" y="357634"/>
            <a:ext cx="9499255" cy="471490"/>
          </a:xfrm>
        </p:spPr>
        <p:txBody>
          <a:bodyPr/>
          <a:lstStyle/>
          <a:p>
            <a:r>
              <a:rPr lang="en-US" sz="2000" dirty="0"/>
              <a:t>Certificate</a:t>
            </a:r>
          </a:p>
        </p:txBody>
      </p:sp>
      <p:sp>
        <p:nvSpPr>
          <p:cNvPr id="13" name="Content Placeholder 7">
            <a:extLst>
              <a:ext uri="{FF2B5EF4-FFF2-40B4-BE49-F238E27FC236}">
                <a16:creationId xmlns:a16="http://schemas.microsoft.com/office/drawing/2014/main" id="{CA3F181A-FBF0-37CA-0E11-D8AE14EAB9BC}"/>
              </a:ext>
            </a:extLst>
          </p:cNvPr>
          <p:cNvSpPr>
            <a:spLocks noGrp="1"/>
          </p:cNvSpPr>
          <p:nvPr>
            <p:ph sz="half" idx="15"/>
          </p:nvPr>
        </p:nvSpPr>
        <p:spPr>
          <a:xfrm>
            <a:off x="11804088" y="468085"/>
            <a:ext cx="387912" cy="277478"/>
          </a:xfrm>
        </p:spPr>
        <p:txBody>
          <a:bodyPr/>
          <a:lstStyle/>
          <a:p>
            <a:endParaRPr lang="en-US" dirty="0"/>
          </a:p>
        </p:txBody>
      </p:sp>
      <p:sp>
        <p:nvSpPr>
          <p:cNvPr id="2" name="Slide Number Placeholder 1">
            <a:extLst>
              <a:ext uri="{FF2B5EF4-FFF2-40B4-BE49-F238E27FC236}">
                <a16:creationId xmlns:a16="http://schemas.microsoft.com/office/drawing/2014/main" id="{AA52BB4D-8BF4-6DBC-8737-AB1CFC3DE24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22</a:t>
            </a:fld>
            <a:endParaRPr lang="en-US" dirty="0"/>
          </a:p>
        </p:txBody>
      </p:sp>
      <p:pic>
        <p:nvPicPr>
          <p:cNvPr id="8" name="Content Placeholder 7">
            <a:extLst>
              <a:ext uri="{FF2B5EF4-FFF2-40B4-BE49-F238E27FC236}">
                <a16:creationId xmlns:a16="http://schemas.microsoft.com/office/drawing/2014/main" id="{0A995EEE-D65B-F75A-BC6E-FEE183C837BE}"/>
              </a:ext>
            </a:extLst>
          </p:cNvPr>
          <p:cNvPicPr>
            <a:picLocks noGrp="1" noChangeAspect="1"/>
          </p:cNvPicPr>
          <p:nvPr>
            <p:ph sz="half" idx="2"/>
          </p:nvPr>
        </p:nvPicPr>
        <p:blipFill>
          <a:blip r:embed="rId3"/>
          <a:stretch>
            <a:fillRect/>
          </a:stretch>
        </p:blipFill>
        <p:spPr>
          <a:xfrm>
            <a:off x="1550988" y="1099457"/>
            <a:ext cx="10253100" cy="5638800"/>
          </a:xfrm>
          <a:prstGeom prst="rect">
            <a:avLst/>
          </a:prstGeom>
        </p:spPr>
      </p:pic>
    </p:spTree>
    <p:extLst>
      <p:ext uri="{BB962C8B-B14F-4D97-AF65-F5344CB8AC3E}">
        <p14:creationId xmlns:p14="http://schemas.microsoft.com/office/powerpoint/2010/main" val="137307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dirty="0" err="1"/>
              <a:t>Github</a:t>
            </a:r>
            <a:r>
              <a:rPr lang="en-US" dirty="0"/>
              <a:t> Link</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399" y="2600797"/>
            <a:ext cx="7739743" cy="3452811"/>
          </a:xfrm>
        </p:spPr>
        <p:txBody>
          <a:bodyPr/>
          <a:lstStyle/>
          <a:p>
            <a:r>
              <a:rPr lang="en-US" dirty="0">
                <a:hlinkClick r:id="rId3"/>
              </a:rPr>
              <a:t>https://github.com/UzairJavaidRather/PlantCare_AI.git</a:t>
            </a:r>
            <a:endParaRPr lang="en-US" dirty="0"/>
          </a:p>
          <a:p>
            <a:endParaRPr lang="en-US" dirty="0"/>
          </a:p>
          <a:p>
            <a:endParaRPr lang="en-US" dirty="0"/>
          </a:p>
          <a:p>
            <a:endParaRPr lang="en-US" dirty="0"/>
          </a:p>
          <a:p>
            <a:r>
              <a:rPr lang="en-US" dirty="0"/>
              <a:t>To Access the Repo :           </a:t>
            </a:r>
            <a:r>
              <a:rPr lang="en-US" b="1" dirty="0">
                <a:solidFill>
                  <a:srgbClr val="0070C0"/>
                </a:solidFill>
                <a:hlinkClick r:id="rId3"/>
              </a:rPr>
              <a:t>CLICK HERE</a:t>
            </a:r>
            <a:endParaRPr lang="en-US" b="1" dirty="0">
              <a:solidFill>
                <a:srgbClr val="0070C0"/>
              </a:solidFill>
            </a:endParaRP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23</a:t>
            </a:fld>
            <a:endParaRPr lang="en-US" dirty="0"/>
          </a:p>
        </p:txBody>
      </p:sp>
      <p:pic>
        <p:nvPicPr>
          <p:cNvPr id="13" name="Picture Placeholder 12">
            <a:extLst>
              <a:ext uri="{FF2B5EF4-FFF2-40B4-BE49-F238E27FC236}">
                <a16:creationId xmlns:a16="http://schemas.microsoft.com/office/drawing/2014/main" id="{120A5F5F-275B-3ECA-DC47-B1ACC101EB7D}"/>
              </a:ext>
            </a:extLst>
          </p:cNvPr>
          <p:cNvPicPr>
            <a:picLocks noGrp="1" noChangeAspect="1"/>
          </p:cNvPicPr>
          <p:nvPr>
            <p:ph type="pic" sz="quarter" idx="14"/>
          </p:nvPr>
        </p:nvPicPr>
        <p:blipFill>
          <a:blip r:embed="rId4"/>
          <a:srcRect l="3632" r="3632"/>
          <a:stretch>
            <a:fillRect/>
          </a:stretch>
        </p:blipFill>
        <p:spPr>
          <a:prstGeom prst="rect">
            <a:avLst/>
          </a:prstGeom>
          <a:solidFill>
            <a:srgbClr val="F5CDCE"/>
          </a:solidFill>
        </p:spPr>
      </p:pic>
    </p:spTree>
    <p:extLst>
      <p:ext uri="{BB962C8B-B14F-4D97-AF65-F5344CB8AC3E}">
        <p14:creationId xmlns:p14="http://schemas.microsoft.com/office/powerpoint/2010/main" val="4072101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Uzair Javaid Rather</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{36CD0FF9-B958-4F3A-9229-01AF22934CD9}TF8a9b5915-b8c7-461e-8cdd-693d48b5e32371f7b7e2_win32-4bf0b9a2ea37</Template>
  <TotalTime>80</TotalTime>
  <Words>1281</Words>
  <Application>Microsoft Office PowerPoint</Application>
  <PresentationFormat>Widescreen</PresentationFormat>
  <Paragraphs>76</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Arial Black</vt:lpstr>
      <vt:lpstr>Calibri</vt:lpstr>
      <vt:lpstr>Sabon Next LT</vt:lpstr>
      <vt:lpstr>Custom</vt:lpstr>
      <vt:lpstr>PlantCare AI     Sustainable AI Plant Health Assistant</vt:lpstr>
      <vt:lpstr>Details</vt:lpstr>
      <vt:lpstr>Problem Statement</vt:lpstr>
      <vt:lpstr>SDG Alignment</vt:lpstr>
      <vt:lpstr>AI Solution Overview</vt:lpstr>
      <vt:lpstr>Target Users</vt:lpstr>
      <vt:lpstr>Responsible AI Considerations </vt:lpstr>
      <vt:lpstr>Expected Impact </vt:lpstr>
      <vt:lpstr>Role of ibm bob </vt:lpstr>
      <vt:lpstr>Agent logic </vt:lpstr>
      <vt:lpstr>PowerPoint Presentation</vt:lpstr>
      <vt:lpstr>Screenshots</vt:lpstr>
      <vt:lpstr>Screenshots</vt:lpstr>
      <vt:lpstr>Screenshots</vt:lpstr>
      <vt:lpstr>Screenshots</vt:lpstr>
      <vt:lpstr>Screenshots</vt:lpstr>
      <vt:lpstr>Screenshots</vt:lpstr>
      <vt:lpstr>Screenshots</vt:lpstr>
      <vt:lpstr>Screenshots</vt:lpstr>
      <vt:lpstr>Screenshots</vt:lpstr>
      <vt:lpstr>Screenshots</vt:lpstr>
      <vt:lpstr>Certificate</vt:lpstr>
      <vt:lpstr>Github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Uzair Javaid Rather</dc:creator>
  <cp:lastModifiedBy>Uzair Javaid Rather</cp:lastModifiedBy>
  <cp:revision>2</cp:revision>
  <dcterms:created xsi:type="dcterms:W3CDTF">2026-09-13T16:16:51Z</dcterms:created>
  <dcterms:modified xsi:type="dcterms:W3CDTF">2026-09-13T17:40:10Z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